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2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17d055668a149af" /><Relationship Type="http://schemas.openxmlformats.org/officeDocument/2006/relationships/extended-properties" Target="/docProps/app.xml" Id="Rd3c7e559b50847e1" /><Relationship Type="http://schemas.openxmlformats.org/officeDocument/2006/relationships/officeDocument" Target="/ppt/presentation.xml" Id="Raf1df208e70247a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5ac7f39eb884c1e"/>
  </p:sldMasterIdLst>
  <p:notesMasterIdLst>
    <p:notesMasterId xmlns:r="http://schemas.openxmlformats.org/officeDocument/2006/relationships" r:id="Rd7d10c8bf27d4c35"/>
  </p:notesMasterIdLst>
  <p:sldIdLst>
    <p:sldId xmlns:r="http://schemas.openxmlformats.org/officeDocument/2006/relationships" id="256" r:id="R94f57506f0a947fe"/>
    <p:sldId xmlns:r="http://schemas.openxmlformats.org/officeDocument/2006/relationships" id="257" r:id="R3e5b43c0abcf4909"/>
    <p:sldId xmlns:r="http://schemas.openxmlformats.org/officeDocument/2006/relationships" id="258" r:id="Rc11ed44d6e614320"/>
    <p:sldId xmlns:r="http://schemas.openxmlformats.org/officeDocument/2006/relationships" id="259" r:id="R42388d437c034794"/>
    <p:sldId xmlns:r="http://schemas.openxmlformats.org/officeDocument/2006/relationships" id="260" r:id="R8ac408cbdd6341ff"/>
    <p:sldId xmlns:r="http://schemas.openxmlformats.org/officeDocument/2006/relationships" id="261" r:id="Rf00e85bbc1ec4dff"/>
    <p:sldId xmlns:r="http://schemas.openxmlformats.org/officeDocument/2006/relationships" id="262" r:id="Rc8eaa929d5964e69"/>
    <p:sldId xmlns:r="http://schemas.openxmlformats.org/officeDocument/2006/relationships" id="263" r:id="R064c42a5fd6c441d"/>
    <p:sldId xmlns:r="http://schemas.openxmlformats.org/officeDocument/2006/relationships" id="264" r:id="Ra1d6f476eb7c488f"/>
    <p:sldId xmlns:r="http://schemas.openxmlformats.org/officeDocument/2006/relationships" id="265" r:id="R8bc218c04a974a8a"/>
    <p:sldId xmlns:r="http://schemas.openxmlformats.org/officeDocument/2006/relationships" id="266" r:id="Rb47f62bd6be84ee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5e20a1ca3344831" /><Relationship Type="http://schemas.openxmlformats.org/officeDocument/2006/relationships/slideMaster" Target="/ppt/slideMasters/slideMaster1.xml" Id="Rd5ac7f39eb884c1e" /><Relationship Type="http://schemas.openxmlformats.org/officeDocument/2006/relationships/notesMaster" Target="/ppt/notesMasters/notesMaster1.xml" Id="Rd7d10c8bf27d4c35" /><Relationship Type="http://schemas.openxmlformats.org/officeDocument/2006/relationships/presProps" Target="/ppt/presProps.xml" Id="Rf7b6049c8a03441c" /><Relationship Type="http://schemas.openxmlformats.org/officeDocument/2006/relationships/tableStyles" Target="/ppt/tableStyles.xml" Id="R2b8db57ac4a44c04" /><Relationship Type="http://schemas.openxmlformats.org/officeDocument/2006/relationships/slide" Target="/ppt/slides/slide1.xml" Id="R94f57506f0a947fe" /><Relationship Type="http://schemas.openxmlformats.org/officeDocument/2006/relationships/slide" Target="/ppt/slides/slide2.xml" Id="R3e5b43c0abcf4909" /><Relationship Type="http://schemas.openxmlformats.org/officeDocument/2006/relationships/slide" Target="/ppt/slides/slide3.xml" Id="Rc11ed44d6e614320" /><Relationship Type="http://schemas.openxmlformats.org/officeDocument/2006/relationships/slide" Target="/ppt/slides/slide4.xml" Id="R42388d437c034794" /><Relationship Type="http://schemas.openxmlformats.org/officeDocument/2006/relationships/slide" Target="/ppt/slides/slide5.xml" Id="R8ac408cbdd6341ff" /><Relationship Type="http://schemas.openxmlformats.org/officeDocument/2006/relationships/slide" Target="/ppt/slides/slide6.xml" Id="Rf00e85bbc1ec4dff" /><Relationship Type="http://schemas.openxmlformats.org/officeDocument/2006/relationships/slide" Target="/ppt/slides/slide7.xml" Id="Rc8eaa929d5964e69" /><Relationship Type="http://schemas.openxmlformats.org/officeDocument/2006/relationships/slide" Target="/ppt/slides/slide8.xml" Id="R064c42a5fd6c441d" /><Relationship Type="http://schemas.openxmlformats.org/officeDocument/2006/relationships/slide" Target="/ppt/slides/slide9.xml" Id="Ra1d6f476eb7c488f" /><Relationship Type="http://schemas.openxmlformats.org/officeDocument/2006/relationships/slide" Target="/ppt/slides/slide10.xml" Id="R8bc218c04a974a8a" /><Relationship Type="http://schemas.openxmlformats.org/officeDocument/2006/relationships/slide" Target="/ppt/slides/slide11.xml" Id="Rb47f62bd6be84ee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51c7d5d65b6484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ce4102205234f0e" /><Relationship Type="http://schemas.openxmlformats.org/officeDocument/2006/relationships/notesMaster" Target="/ppt/notesMasters/notesMaster1.xml" Id="Rb7421b0573234a1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68b6ce7a68f4f83" /><Relationship Type="http://schemas.openxmlformats.org/officeDocument/2006/relationships/notesMaster" Target="/ppt/notesMasters/notesMaster1.xml" Id="R2171b1ce309c462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c7a44910eeb421a" /><Relationship Type="http://schemas.openxmlformats.org/officeDocument/2006/relationships/notesMaster" Target="/ppt/notesMasters/notesMaster1.xml" Id="Rd0292e403af0416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91512e5c6dc406c" /><Relationship Type="http://schemas.openxmlformats.org/officeDocument/2006/relationships/notesMaster" Target="/ppt/notesMasters/notesMaster1.xml" Id="Rcb6004068da7401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2d83b1389074652" /><Relationship Type="http://schemas.openxmlformats.org/officeDocument/2006/relationships/notesMaster" Target="/ppt/notesMasters/notesMaster1.xml" Id="R1a875b098d4e4d3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9b3a2ef22b84c49" /><Relationship Type="http://schemas.openxmlformats.org/officeDocument/2006/relationships/notesMaster" Target="/ppt/notesMasters/notesMaster1.xml" Id="Rfda79a26fee24d4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9c27faa3f0f424c" /><Relationship Type="http://schemas.openxmlformats.org/officeDocument/2006/relationships/notesMaster" Target="/ppt/notesMasters/notesMaster1.xml" Id="Rbd1a6e84683741b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830c9ae52ed4dc2" /><Relationship Type="http://schemas.openxmlformats.org/officeDocument/2006/relationships/notesMaster" Target="/ppt/notesMasters/notesMaster1.xml" Id="R4488d1aa63054a7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db89709172f4a3f" /><Relationship Type="http://schemas.openxmlformats.org/officeDocument/2006/relationships/notesMaster" Target="/ppt/notesMasters/notesMaster1.xml" Id="R43c6f40a52a247a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d75df49b8174d4d" /><Relationship Type="http://schemas.openxmlformats.org/officeDocument/2006/relationships/notesMaster" Target="/ppt/notesMasters/notesMaster1.xml" Id="R3ab5c7f6344f4ff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ac6df4e88e743e1" /><Relationship Type="http://schemas.openxmlformats.org/officeDocument/2006/relationships/notesMaster" Target="/ppt/notesMasters/notesMaster1.xml" Id="Rde2c514ca42f438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Mapa para localizar resultados durante a apresentação. Campanha principal e extensão são coortes distintas. Arquivos oficiais em pesquisa/02_resultados.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e B são baselines; a apresentação quantitativa abaixo focaliza C1, C2 e D. N-INT permite comparação pareada entre as três camadas. MCPTox mede texto em C1 e Connor mede código em C2. Fonte: documentacao/METODOLOGIA_E_CASOS.md e pesquisa/03_execucao_e_analise/pacote_campanha_principal/CONFIGURACAO_DA_CAMPANHA.json.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Contagens calculadas diretamente de pesquisa/02_resultados/01_campanha_principal/analise_final/RESULTADOS_POR_CASO.csv, filtrando applicable=True, regra_derivada C1/C2/D e cell_operational. Não comparar MCPTox e Connor como teste de superioridade entre C1 e C2; eles medem superfícies diferentes.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N-INT usa os mesmos 30 casos em C1, C2 e D por posição e repetição; cada camada soma 300 decisões. Os dados mostram redução descritiva dos FN entre C1 e C2/D. A comparação é pareada, porém não fundamenta superioridade universal. Fonte: RESULTADOS_POR_CASO.csv; comparação técnica por posição em COMPARACAO_DAS_CAMADAS_C1_C2_E_D.csv.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 contagens agrupam R1/R2. Cada célula tem 60 decisões. Modelo, provedor e configuração estão associados a estas posições experimentais; não interpretar esta tabela como ranking universal. Fonte: RESULTADOS_POR_CASO.csv; MODELOS_E_CONFIGURACOES.json.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MCPTox testa C1 na superfície textual; Connor testa C2 na superfície de código. Ambos têm 300 decisões. Não comparar as taxas entre braços para declarar superioridade de uma camada. Fonte: documentacao/METODOLOGIA_E_CASOS.md e RESULTADOS_POR_CASO.csv.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Concordância R1/R2 calculada da tabela RESULTADOS_POR_CASO.csv: pares aplicáveis com duas repetições e ação operacional igual. R3 é diagnóstico, não substitui R1/R2; 14 R3 e custo externo registrado constam de documentacao/RESULTADOS_E_LIMITACOES.md. Custo local é não faturável na campanha principal.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Distribuição oficial da extensão: 900 unidades, incluindo 23 falhas terminais no denominador. Taxa de bloqueio 310/900 = 34,44%; ela descreve a ação observada, não a qualidade da detecção. Fonte: DISTRIBUICAO_DAS_DECISOES.csv e LEIA_PRIMEIRO_RESULTADOS_DA_EXTENSAO.md.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Valores da coorte temporal m2_3_extension_campaign_20260911_221516. Taxa de bloqueio usa todas as unidades, inclusive falhas. As condições têm composições diferentes; esta tabela descreve sensibilidade à configuração e não uma estimativa causal de superioridade. Fonte: RESUMO_POR_MODELO_E_CONDICAO.csv e LEIA_PRIMEIRO_RESULTADOS_DA_EXTENSAO.md.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Extensão: 450 pares, 900 unidades, 877 respostas válidas, 23 falhas terminais e 5 diagnósticos R3. Concordância sobre todos os pares 431/450 = 95,78%; entre 436 pares com duas respostas válidas, 431/436 = 98,85%. Custo observado US$ 5,14043240; custo contabilizado US$ 5,80164740; 905 tentativas, latência mediana global 2.906 ms e p95 5.953 ms. Dados por posição no CSV. Não alegar superioridade causal de modelo ou provedor.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Síntese descritiva. N-INT é o único braço com comparação C1/C2/D pareada. MCPTox e Connor usam superfícies diferentes. A extensão multimodelo não permite superioridade causal de modelo/provedor. Falhas e recusas permanecem nos denominadores definidos. Gateway e demonstração Donna são separados da bateria científica. Fontes: documentacao/RESULTADOS_E_LIMITACOES.md; LEIA_PRIMEIRO_RESULTADOS_DA_CAMPANHA.md; LEIA_PRIMEIRO_RESULTADOS_DA_EXTENSAO.md.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c6d54b839b46d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2e610ec6c7c44a6" /><Relationship Type="http://schemas.openxmlformats.org/officeDocument/2006/relationships/slideLayout" Target="/ppt/slideLayouts/slideLayout1.xml" Id="R19fa18da8550419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9fa18da8550419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64bdf91a634562" /><Relationship Type="http://schemas.openxmlformats.org/officeDocument/2006/relationships/notesSlide" Target="/ppt/notesSlides/notesSlide1.xml" Id="R7325928b4e1a4c5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1cb7805cf94389" /><Relationship Type="http://schemas.openxmlformats.org/officeDocument/2006/relationships/notesSlide" Target="/ppt/notesSlides/notesSlide2.xml" Id="R68a2df0b119c4f6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aa7ce72dee465d" /><Relationship Type="http://schemas.openxmlformats.org/officeDocument/2006/relationships/notesSlide" Target="/ppt/notesSlides/notesSlide3.xml" Id="Rd7490c9f92f84aa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e2723cc07c46bd" /><Relationship Type="http://schemas.openxmlformats.org/officeDocument/2006/relationships/chart" Target="/ppt/slides/charts/chart1.xml" Id="R0ea3fce584db42b1" /><Relationship Type="http://schemas.openxmlformats.org/officeDocument/2006/relationships/notesSlide" Target="/ppt/notesSlides/notesSlide4.xml" Id="R4a016707d75340d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31dcb34f694a26" /><Relationship Type="http://schemas.openxmlformats.org/officeDocument/2006/relationships/notesSlide" Target="/ppt/notesSlides/notesSlide5.xml" Id="R1986c0db15e744c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02390d849c4e38" /><Relationship Type="http://schemas.openxmlformats.org/officeDocument/2006/relationships/notesSlide" Target="/ppt/notesSlides/notesSlide6.xml" Id="Rb0912f42d2a741c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02a4530dbc44e9" /><Relationship Type="http://schemas.openxmlformats.org/officeDocument/2006/relationships/notesSlide" Target="/ppt/notesSlides/notesSlide7.xml" Id="R42e7aa49e2fa453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61777446a44374" /><Relationship Type="http://schemas.openxmlformats.org/officeDocument/2006/relationships/chart" Target="/ppt/slides/charts/chart2.xml" Id="R2331dcf70ffc42be" /><Relationship Type="http://schemas.openxmlformats.org/officeDocument/2006/relationships/notesSlide" Target="/ppt/notesSlides/notesSlide8.xml" Id="R4846a55ba2c242c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7474c750d24a1a" /><Relationship Type="http://schemas.openxmlformats.org/officeDocument/2006/relationships/notesSlide" Target="/ppt/notesSlides/notesSlide9.xml" Id="R2070b5dfb64e4a4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9c80da8b8b4c89" /><Relationship Type="http://schemas.openxmlformats.org/officeDocument/2006/relationships/notesSlide" Target="/ppt/notesSlides/notesSlide10.xml" Id="Red017415a3c3404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b244b707dd42e6" /><Relationship Type="http://schemas.openxmlformats.org/officeDocument/2006/relationships/notesSlide" Target="/ppt/notesSlides/notesSlide11.xml" Id="R08737195efd74e18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Falsos negativos</c:v>
          </c:tx>
          <c:spPr>
            <a:solidFill xmlns:a="http://schemas.openxmlformats.org/drawingml/2006/main">
              <a:srgbClr val="D66C31"/>
            </a:solidFill>
          </c:spPr>
          <c:cat>
            <c:strRef>
              <c:f>'Chart Data'!$A$2:$A$4</c:f>
              <c:strCache>
                <c:ptCount val="3"/>
                <c:pt idx="0">
                  <c:v>C1</c:v>
                </c:pt>
                <c:pt idx="1">
                  <c:v>C2</c:v>
                </c:pt>
                <c:pt idx="2">
                  <c:v>D</c:v>
                </c:pt>
              </c:strCache>
            </c:strRef>
          </c:cat>
          <c:val>
            <c:numRef>
              <c:f>'Chart Data'!$B$2:$B$4</c:f>
              <c:numCache>
                <c:formatCode>0</c:formatCode>
                <c:ptCount val="3"/>
                <c:pt idx="0">
                  <c:v>68</c:v>
                </c:pt>
                <c:pt idx="1">
                  <c:v>33</c:v>
                </c:pt>
                <c:pt idx="2">
                  <c:v>28</c:v>
                </c:pt>
              </c:numCache>
            </c:numRef>
          </c:val>
        </c:ser>
        <c:ser>
          <c:idx val="1"/>
          <c:order val="1"/>
          <c:tx>
            <c:v>Falsos positivos</c:v>
          </c:tx>
          <c:spPr>
            <a:solidFill xmlns:a="http://schemas.openxmlformats.org/drawingml/2006/main">
              <a:srgbClr val="168C91"/>
            </a:solidFill>
          </c:spPr>
          <c:cat>
            <c:strRef>
              <c:f>'Chart Data'!$C$2:$C$4</c:f>
              <c:strCache>
                <c:ptCount val="3"/>
                <c:pt idx="0">
                  <c:v>C1</c:v>
                </c:pt>
                <c:pt idx="1">
                  <c:v>C2</c:v>
                </c:pt>
                <c:pt idx="2">
                  <c:v>D</c:v>
                </c:pt>
              </c:strCache>
            </c:strRef>
          </c:cat>
          <c:val>
            <c:numRef>
              <c:f>'Chart Data'!$D$2:$D$4</c:f>
              <c:numCache>
                <c:formatCode>0</c:formatCode>
                <c:ptCount val="3"/>
                <c:pt idx="0">
                  <c:v>20</c:v>
                </c:pt>
                <c:pt idx="1">
                  <c:v>18</c:v>
                </c:pt>
                <c:pt idx="2">
                  <c:v>21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80"/>
          <c:min val="0"/>
        </c:scaling>
        <c:delete val="0"/>
        <c:axPos val="l"/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Decisões</c:v>
          </c:tx>
          <c:spPr>
            <a:solidFill xmlns:a="http://schemas.openxmlformats.org/drawingml/2006/main">
              <a:srgbClr val="168C91"/>
            </a:solidFill>
          </c:spPr>
          <c:cat>
            <c:strRef>
              <c:f>'Chart Data'!$A$2:$A$5</c:f>
              <c:strCache>
                <c:ptCount val="4"/>
                <c:pt idx="0">
                  <c:v>Bloquear</c:v>
                </c:pt>
                <c:pt idx="1">
                  <c:v>Permitir</c:v>
                </c:pt>
                <c:pt idx="2">
                  <c:v>Inconclusiva</c:v>
                </c:pt>
                <c:pt idx="3">
                  <c:v>Falha terminal</c:v>
                </c:pt>
              </c:strCache>
            </c:strRef>
          </c:cat>
          <c:val>
            <c:numRef>
              <c:f>'Chart Data'!$B$2:$B$5</c:f>
              <c:numCache>
                <c:formatCode>0</c:formatCode>
                <c:ptCount val="4"/>
                <c:pt idx="0">
                  <c:v>310</c:v>
                </c:pt>
                <c:pt idx="1">
                  <c:v>565</c:v>
                </c:pt>
                <c:pt idx="2">
                  <c:v>2</c:v>
                </c:pt>
                <c:pt idx="3">
                  <c:v>23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600"/>
          <c:min val="0"/>
        </c:scaling>
        <c:delete val="0"/>
        <c:axPos val="l"/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0FCAEB-4982-4897-897D-1692A62FE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8C9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68C91"/>
                </a:solidFill>
                <a:latin typeface="Arial"/>
                <a:ea typeface="Arial"/>
                <a:cs typeface="Arial"/>
              </a:rPr>
              <a:t>GUIA DA APRESENTAÇÃO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0632A7-7FF0-433C-B8C7-FDF20C6EE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2C4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12C40"/>
                </a:solidFill>
                <a:latin typeface="Arial"/>
                <a:ea typeface="Arial"/>
                <a:cs typeface="Arial"/>
              </a:rPr>
              <a:t>Mapa dos resultados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F3A14A-DD92-4968-8F27-EC4C23D4E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23850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50667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06677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24A15E-39C6-497D-9AE9-77DB4E3D2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066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677"/>
                </a:solidFill>
                <a:latin typeface="Arial"/>
                <a:ea typeface="Arial"/>
                <a:cs typeface="Arial"/>
              </a:rPr>
              <a:t>MCP Sentry · FEICIT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C304C6-C29F-4789-848A-4E3F9386A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0"/>
            <a:ext cx="1085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0667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06677"/>
                </a:solidFill>
                <a:latin typeface="Arial"/>
                <a:ea typeface="Arial"/>
                <a:cs typeface="Arial"/>
              </a:rPr>
              <a:t>Fontes: análise final da campanha e análise descritiva da extensão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39A8DA-5904-4462-891A-C80D8A1F7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2C4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12C40"/>
                </a:solidFill>
                <a:latin typeface="Arial"/>
                <a:ea typeface="Arial"/>
                <a:cs typeface="Arial"/>
              </a:rPr>
              <a:t>Campanha principal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49D319-A19F-40A4-8C62-9E63C3032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10572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0667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06677"/>
                </a:solidFill>
                <a:latin typeface="Arial"/>
                <a:ea typeface="Arial"/>
                <a:cs typeface="Arial"/>
              </a:rPr>
              <a:t>02 desenho  ·  03 panorama  ·  04 camadas  ·  05 modelos</a:t>
            </a:r>
          </a:p>
          <a:p xmlns:a="http://schemas.openxmlformats.org/drawingml/2006/main">
            <a:pPr algn="l">
              <a:defRPr sz="1875" b="0">
                <a:solidFill>
                  <a:srgbClr val="50667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06677"/>
                </a:solidFill>
                <a:latin typeface="Arial"/>
                <a:ea typeface="Arial"/>
                <a:cs typeface="Arial"/>
              </a:rPr>
              <a:t>06 braços externos  ·  07 repetição e custo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801DC6-C326-4EFC-8BC3-D94C1FBB0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05225"/>
            <a:ext cx="619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2C4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12C40"/>
                </a:solidFill>
                <a:latin typeface="Arial"/>
                <a:ea typeface="Arial"/>
                <a:cs typeface="Arial"/>
              </a:rPr>
              <a:t>Extensão multimodelo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F62225-F124-423A-99F4-A053DBF0D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57675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0667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06677"/>
                </a:solidFill>
                <a:latin typeface="Arial"/>
                <a:ea typeface="Arial"/>
                <a:cs typeface="Arial"/>
              </a:rPr>
              <a:t>08 decisões  ·  09 condições  ·  10 modelos e custo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AEC21D-0D21-4C38-BFF2-2E60C3F04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91125"/>
            <a:ext cx="952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68C91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68C91"/>
                </a:solidFill>
                <a:latin typeface="Arial"/>
                <a:ea typeface="Arial"/>
                <a:cs typeface="Arial"/>
              </a:rPr>
              <a:t>Conclusões e limites  ·  11</a:t>
            </a:r>
          </a:p>
        </p:txBody>
      </p:sp>
    </p:spTree>
    <p:extLst>
      <p:ext uri="{BB962C8B-B14F-4D97-AF65-F5344CB8AC3E}">
        <p14:creationId xmlns:p14="http://schemas.microsoft.com/office/powerpoint/2010/main" val="43364751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2BB030-A401-46E9-8AA9-3105E63A9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8C9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68C91"/>
                </a:solidFill>
                <a:latin typeface="Arial"/>
                <a:ea typeface="Arial"/>
                <a:cs typeface="Arial"/>
              </a:rPr>
              <a:t>CAMPANHA PRINCIPAL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762C62-2832-4735-B305-0A9FEB5A7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2C4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12C40"/>
                </a:solidFill>
                <a:latin typeface="Arial"/>
                <a:ea typeface="Arial"/>
                <a:cs typeface="Arial"/>
              </a:rPr>
              <a:t>Desenho e denominadores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2303F1-1793-42CC-8587-47AA756E1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23850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50667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0667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250759-DE71-42C4-A6B4-FD3043673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066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677"/>
                </a:solidFill>
                <a:latin typeface="Arial"/>
                <a:ea typeface="Arial"/>
                <a:cs typeface="Arial"/>
              </a:rPr>
              <a:t>MCP Sentry · FEICIT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C7CB2E-2763-46D6-B2C3-97C8849FB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0"/>
            <a:ext cx="1085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0667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06677"/>
                </a:solidFill>
                <a:latin typeface="Arial"/>
                <a:ea typeface="Arial"/>
                <a:cs typeface="Arial"/>
              </a:rPr>
              <a:t>Fontes: documentacao/METODOLOGIA_E_CASOS.md; CONFIGURACAO_DA_CAMPANHA.json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8CB6EB-A218-46EC-96AB-33BE85E93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4143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68C91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68C91"/>
                </a:solidFill>
                <a:latin typeface="Arial"/>
                <a:ea typeface="Arial"/>
                <a:cs typeface="Arial"/>
              </a:rPr>
              <a:t>90 casos finais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62693A-7C6C-4084-9C5B-B2E22AD24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342900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12C40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12C40"/>
                </a:solidFill>
                <a:latin typeface="Arial"/>
                <a:ea typeface="Arial"/>
                <a:cs typeface="Arial"/>
              </a:rPr>
              <a:t>30 N-INT</a:t>
            </a:r>
          </a:p>
          <a:p xmlns:a="http://schemas.openxmlformats.org/drawingml/2006/main">
            <a:pPr algn="l">
              <a:defRPr sz="2250" b="0">
                <a:solidFill>
                  <a:srgbClr val="112C40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12C40"/>
                </a:solidFill>
                <a:latin typeface="Arial"/>
                <a:ea typeface="Arial"/>
                <a:cs typeface="Arial"/>
              </a:rPr>
              <a:t>30 MCPTox</a:t>
            </a:r>
          </a:p>
          <a:p xmlns:a="http://schemas.openxmlformats.org/drawingml/2006/main">
            <a:pPr algn="l">
              <a:defRPr sz="2250" b="0">
                <a:solidFill>
                  <a:srgbClr val="112C40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12C40"/>
                </a:solidFill>
                <a:latin typeface="Arial"/>
                <a:ea typeface="Arial"/>
                <a:cs typeface="Arial"/>
              </a:rPr>
              <a:t>30 Connor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E98C2E-99E1-4ADB-9A82-9A7CD5641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847850"/>
            <a:ext cx="6191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2C4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12C40"/>
                </a:solidFill>
                <a:latin typeface="Arial"/>
                <a:ea typeface="Arial"/>
                <a:cs typeface="Arial"/>
              </a:rPr>
              <a:t>1.500 decisões primárias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78E617-25D2-4E24-AEC7-F486AB57E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743200"/>
            <a:ext cx="61912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506677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506677"/>
                </a:solidFill>
                <a:latin typeface="Arial"/>
                <a:ea typeface="Arial"/>
                <a:cs typeface="Arial"/>
              </a:rPr>
              <a:t>750 pares R1/R2  ·  5 posições de modelo</a:t>
            </a:r>
          </a:p>
          <a:p xmlns:a="http://schemas.openxmlformats.org/drawingml/2006/main">
            <a:pPr algn="l">
              <a:defRPr sz="2175" b="0">
                <a:solidFill>
                  <a:srgbClr val="506677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506677"/>
                </a:solidFill>
                <a:latin typeface="Arial"/>
                <a:ea typeface="Arial"/>
                <a:cs typeface="Arial"/>
              </a:rPr>
              <a:t>C1: 600  ·  C2: 600  ·  D: 300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41F530-8C5A-4EF1-A20D-1DA6829CA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768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2C4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2C40"/>
                </a:solidFill>
                <a:latin typeface="Arial"/>
                <a:ea typeface="Arial"/>
                <a:cs typeface="Arial"/>
              </a:rPr>
              <a:t>C1 = descrição e metadados   C2 = código observável   D = ambos</a:t>
            </a:r>
          </a:p>
        </p:txBody>
      </p:sp>
    </p:spTree>
    <p:extLst>
      <p:ext uri="{BB962C8B-B14F-4D97-AF65-F5344CB8AC3E}">
        <p14:creationId xmlns:p14="http://schemas.microsoft.com/office/powerpoint/2010/main" val="179336705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2FEF83-C549-405B-A368-21E256C11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8C9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68C91"/>
                </a:solidFill>
                <a:latin typeface="Arial"/>
                <a:ea typeface="Arial"/>
                <a:cs typeface="Arial"/>
              </a:rPr>
              <a:t>CAMPANHA PRINCIPAL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5F7977-8892-4AAF-9D28-CF1DD188A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2C4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12C40"/>
                </a:solidFill>
                <a:latin typeface="Arial"/>
                <a:ea typeface="Arial"/>
                <a:cs typeface="Arial"/>
              </a:rPr>
              <a:t>Resultados por superfície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0CBF1E-D8A2-4107-A423-C97C6E1FE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23850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50667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0667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00BA03-0F51-454E-9B1B-CF931AECA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066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677"/>
                </a:solidFill>
                <a:latin typeface="Arial"/>
                <a:ea typeface="Arial"/>
                <a:cs typeface="Arial"/>
              </a:rPr>
              <a:t>MCP Sentry · FEICIT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7839BC-8272-49DB-BB33-A8F981136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0"/>
            <a:ext cx="1085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0667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06677"/>
                </a:solidFill>
                <a:latin typeface="Arial"/>
                <a:ea typeface="Arial"/>
                <a:cs typeface="Arial"/>
              </a:rPr>
              <a:t>Fonte: RESULTADOS_POR_CASO.csv · leitura operacional · 300 decisões por linha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685800" y="1800225"/>
          <a:ext xmlns:a="http://schemas.openxmlformats.org/drawingml/2006/main" cx="10820400" cy="34861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545771"/>
                <a:gridCol w="1545771"/>
                <a:gridCol w="1545771"/>
                <a:gridCol w="1545771"/>
                <a:gridCol w="1545771"/>
                <a:gridCol w="1545771"/>
                <a:gridCol w="1545771"/>
              </a:tblGrid>
              <a:tr h="58102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Superfície</a:t>
                      </a:r>
                    </a:p>
                  </a:txBody>
                  <a:tcPr marL="91440" marR="91440" marT="45720" marB="45720">
                    <a:solidFill>
                      <a:srgbClr val="112C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Camada</a:t>
                      </a:r>
                    </a:p>
                  </a:txBody>
                  <a:tcPr marL="91440" marR="91440" marT="45720" marB="45720">
                    <a:solidFill>
                      <a:srgbClr val="112C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n</a:t>
                      </a:r>
                    </a:p>
                  </a:txBody>
                  <a:tcPr marL="91440" marR="91440" marT="45720" marB="45720">
                    <a:solidFill>
                      <a:srgbClr val="112C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VP</a:t>
                      </a:r>
                    </a:p>
                  </a:txBody>
                  <a:tcPr marL="91440" marR="91440" marT="45720" marB="45720">
                    <a:solidFill>
                      <a:srgbClr val="112C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VN</a:t>
                      </a:r>
                    </a:p>
                  </a:txBody>
                  <a:tcPr marL="91440" marR="91440" marT="45720" marB="45720">
                    <a:solidFill>
                      <a:srgbClr val="112C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FP</a:t>
                      </a:r>
                    </a:p>
                  </a:txBody>
                  <a:tcPr marL="91440" marR="91440" marT="45720" marB="45720">
                    <a:solidFill>
                      <a:srgbClr val="112C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FN</a:t>
                      </a:r>
                    </a:p>
                  </a:txBody>
                  <a:tcPr marL="91440" marR="91440" marT="45720" marB="45720">
                    <a:solidFill>
                      <a:srgbClr val="112C40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N-INT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C1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300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52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160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20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68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N-INT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C2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300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87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162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18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33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N-INT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300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92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159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21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28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MCPTox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C1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300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116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164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16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Connor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C2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300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50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180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70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7C0165-ACFA-4428-984F-38E3E2F78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1020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0667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06677"/>
                </a:solidFill>
                <a:latin typeface="Arial"/>
                <a:ea typeface="Arial"/>
                <a:cs typeface="Arial"/>
              </a:rPr>
              <a:t>VP/VN = acertos · FP = bloqueio indevido · FN = ameaça permitida</a:t>
            </a:r>
          </a:p>
        </p:txBody>
      </p:sp>
    </p:spTree>
    <p:extLst>
      <p:ext uri="{BB962C8B-B14F-4D97-AF65-F5344CB8AC3E}">
        <p14:creationId xmlns:p14="http://schemas.microsoft.com/office/powerpoint/2010/main" val="2829002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AD6B4A-41E7-4B83-AE24-9A35B53A3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8C9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68C91"/>
                </a:solidFill>
                <a:latin typeface="Arial"/>
                <a:ea typeface="Arial"/>
                <a:cs typeface="Arial"/>
              </a:rPr>
              <a:t>NÚCLEO N-INT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54433D-9934-48E9-91CA-148895D18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2C4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12C40"/>
                </a:solidFill>
                <a:latin typeface="Arial"/>
                <a:ea typeface="Arial"/>
                <a:cs typeface="Arial"/>
              </a:rPr>
              <a:t>Falsos negativos e falsos positivos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4371FE-48A2-4C61-9610-AEAAD418A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23850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50667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06677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E25F7D-BF15-40CB-BA29-EBDB4605F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066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677"/>
                </a:solidFill>
                <a:latin typeface="Arial"/>
                <a:ea typeface="Arial"/>
                <a:cs typeface="Arial"/>
              </a:rPr>
              <a:t>MCP Sentry · FEICIT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75C8F2-BE4D-4F93-A8BA-369B80C3E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0"/>
            <a:ext cx="1085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0667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06677"/>
                </a:solidFill>
                <a:latin typeface="Arial"/>
                <a:ea typeface="Arial"/>
                <a:cs typeface="Arial"/>
              </a:rPr>
              <a:t>Fonte: RESULTADOS_POR_CASO.csv · 300 decisões por camada, mesmos casos</a:t>
            </a:r>
          </a:p>
        </p:txBody>
      </p:sp>
      <p:graphicFrame>
        <p:nvGraphicFramePr>
          <p:cNvPr id="13" name="Chart"/>
          <p:cNvGraphicFramePr/>
          <p:nvPr/>
        </p:nvGraphicFramePr>
        <p:xfrm>
          <a:off xmlns:a="http://schemas.openxmlformats.org/drawingml/2006/main" x="952500" y="1695450"/>
          <a:ext xmlns:a="http://schemas.openxmlformats.org/drawingml/2006/main" cx="10287000" cy="34004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ea3fce584db42b1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1D51B3-C36C-40DE-82ED-649A8DFE4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820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2C4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12C40"/>
                </a:solidFill>
                <a:latin typeface="Arial"/>
                <a:ea typeface="Arial"/>
                <a:cs typeface="Arial"/>
              </a:rPr>
              <a:t>C1: 68 FN / 20 FP     C2: 33 FN / 18 FP     D: 28 FN / 21 FP</a:t>
            </a:r>
          </a:p>
        </p:txBody>
      </p:sp>
    </p:spTree>
    <p:extLst>
      <p:ext uri="{BB962C8B-B14F-4D97-AF65-F5344CB8AC3E}">
        <p14:creationId xmlns:p14="http://schemas.microsoft.com/office/powerpoint/2010/main" val="87002104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C053CF-A724-41F3-BDC7-EC08F6E8C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8C9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68C91"/>
                </a:solidFill>
                <a:latin typeface="Arial"/>
                <a:ea typeface="Arial"/>
                <a:cs typeface="Arial"/>
              </a:rPr>
              <a:t>NÚCLEO N-INT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91E5A5-00A0-4459-84C7-B4BEFE017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2C4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12C40"/>
                </a:solidFill>
                <a:latin typeface="Arial"/>
                <a:ea typeface="Arial"/>
                <a:cs typeface="Arial"/>
              </a:rPr>
              <a:t>Variação entre posições de modelo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6820A5-049D-4BD7-A0AA-5D4BA64A1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23850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50667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06677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E44ABE-258E-493C-AFD7-3630494B7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066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677"/>
                </a:solidFill>
                <a:latin typeface="Arial"/>
                <a:ea typeface="Arial"/>
                <a:cs typeface="Arial"/>
              </a:rPr>
              <a:t>MCP Sentry · FEICIT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D01EEA-55E9-48FC-B065-FFEC66BBF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0"/>
            <a:ext cx="1085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0667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06677"/>
                </a:solidFill>
                <a:latin typeface="Arial"/>
                <a:ea typeface="Arial"/>
                <a:cs typeface="Arial"/>
              </a:rPr>
              <a:t>Fonte: RESULTADOS_POR_CASO.csv · FN/FP, 60 decisões por posição e camada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685800" y="1809750"/>
          <a:ext xmlns:a="http://schemas.openxmlformats.org/drawingml/2006/main" cx="10820400" cy="32766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705100"/>
                <a:gridCol w="2705100"/>
                <a:gridCol w="2705100"/>
                <a:gridCol w="2705100"/>
              </a:tblGrid>
              <a:tr h="5461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Posição</a:t>
                      </a:r>
                    </a:p>
                  </a:txBody>
                  <a:tcPr marL="91440" marR="91440" marT="45720" marB="45720">
                    <a:solidFill>
                      <a:srgbClr val="112C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C1 FN/FP</a:t>
                      </a:r>
                    </a:p>
                  </a:txBody>
                  <a:tcPr marL="91440" marR="91440" marT="45720" marB="45720">
                    <a:solidFill>
                      <a:srgbClr val="112C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C2 FN/FP</a:t>
                      </a:r>
                    </a:p>
                  </a:txBody>
                  <a:tcPr marL="91440" marR="91440" marT="45720" marB="45720">
                    <a:solidFill>
                      <a:srgbClr val="112C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 FN/FP</a:t>
                      </a:r>
                    </a:p>
                  </a:txBody>
                  <a:tcPr marL="91440" marR="91440" marT="45720" marB="45720">
                    <a:solidFill>
                      <a:srgbClr val="112C40"/>
                    </a:solidFill>
                  </a:tcPr>
                </a:tc>
              </a:tr>
              <a:tr h="5461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Qwen 2.5 Coder local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14/0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8/4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8/2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461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Qwen 3 local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8/20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10/6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8/8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461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GPT 5.6 Luna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12/0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4/2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2/3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461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GPT OSS 20B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17/0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7/0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6/0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461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Qwen 3 Alibaba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17/0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4/6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4/8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72C575-3041-4343-AEC4-24ECF6592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68C9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68C91"/>
                </a:solidFill>
                <a:latin typeface="Arial"/>
                <a:ea typeface="Arial"/>
                <a:cs typeface="Arial"/>
              </a:rPr>
              <a:t>A direção e o tamanho das diferenças variam com a posição de modelo</a:t>
            </a:r>
          </a:p>
        </p:txBody>
      </p:sp>
    </p:spTree>
    <p:extLst>
      <p:ext uri="{BB962C8B-B14F-4D97-AF65-F5344CB8AC3E}">
        <p14:creationId xmlns:p14="http://schemas.microsoft.com/office/powerpoint/2010/main" val="78028984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A0D048-EEC5-4AD7-94A8-CFDD638CB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8C9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68C91"/>
                </a:solidFill>
                <a:latin typeface="Arial"/>
                <a:ea typeface="Arial"/>
                <a:cs typeface="Arial"/>
              </a:rPr>
              <a:t>CAMPANHA PRINCIPAL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5502AE-294E-4389-AC01-44374AD5D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2C4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12C40"/>
                </a:solidFill>
                <a:latin typeface="Arial"/>
                <a:ea typeface="Arial"/>
                <a:cs typeface="Arial"/>
              </a:rPr>
              <a:t>Validação por superfície externa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162B42-887C-4B11-B19B-9BEA7076A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23850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50667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06677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0DC605-14AB-4B2A-A299-F2E2C62D5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066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677"/>
                </a:solidFill>
                <a:latin typeface="Arial"/>
                <a:ea typeface="Arial"/>
                <a:cs typeface="Arial"/>
              </a:rPr>
              <a:t>MCP Sentry · FEICIT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6412A1-41BB-4117-8CB7-BAFBB2F53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0"/>
            <a:ext cx="1085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0667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06677"/>
                </a:solidFill>
                <a:latin typeface="Arial"/>
                <a:ea typeface="Arial"/>
                <a:cs typeface="Arial"/>
              </a:rPr>
              <a:t>Fonte: RESULTADOS_POR_CASO.csv · leitura operacional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4DB5CF-056B-463C-92E4-9107F5903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76425"/>
            <a:ext cx="4810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2C4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12C40"/>
                </a:solidFill>
                <a:latin typeface="Arial"/>
                <a:ea typeface="Arial"/>
                <a:cs typeface="Arial"/>
              </a:rPr>
              <a:t>MCPTox · texto em C1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4266E2-CD93-4E8E-B2A1-1D96F6074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4953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68C9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68C91"/>
                </a:solidFill>
                <a:latin typeface="Arial"/>
                <a:ea typeface="Arial"/>
                <a:cs typeface="Arial"/>
              </a:rPr>
              <a:t>116 VP   164 VN</a:t>
            </a:r>
          </a:p>
          <a:p xmlns:a="http://schemas.openxmlformats.org/drawingml/2006/main">
            <a:pPr algn="l">
              <a:defRPr sz="2850" b="1">
                <a:solidFill>
                  <a:srgbClr val="168C9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68C91"/>
                </a:solidFill>
                <a:latin typeface="Arial"/>
                <a:ea typeface="Arial"/>
                <a:cs typeface="Arial"/>
              </a:rPr>
              <a:t>16 FP       4 FN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114ACC-F756-4EA9-86F2-7D4C989C0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876425"/>
            <a:ext cx="523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2C4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12C40"/>
                </a:solidFill>
                <a:latin typeface="Arial"/>
                <a:ea typeface="Arial"/>
                <a:cs typeface="Arial"/>
              </a:rPr>
              <a:t>Connor · código em C2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8E8FD8-843D-478C-AC52-B4EDB4D21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714625"/>
            <a:ext cx="52387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D66C3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D66C31"/>
                </a:solidFill>
                <a:latin typeface="Arial"/>
                <a:ea typeface="Arial"/>
                <a:cs typeface="Arial"/>
              </a:rPr>
              <a:t>50 VP    180 VN</a:t>
            </a:r>
          </a:p>
          <a:p xmlns:a="http://schemas.openxmlformats.org/drawingml/2006/main">
            <a:pPr algn="l">
              <a:defRPr sz="2850" b="1">
                <a:solidFill>
                  <a:srgbClr val="D66C3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D66C31"/>
                </a:solidFill>
                <a:latin typeface="Arial"/>
                <a:ea typeface="Arial"/>
                <a:cs typeface="Arial"/>
              </a:rPr>
              <a:t>0 FP         70 FN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E86DE0-8841-464E-AD33-C44997CAC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9107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06677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06677"/>
                </a:solidFill>
                <a:latin typeface="Arial"/>
                <a:ea typeface="Arial"/>
                <a:cs typeface="Arial"/>
              </a:rPr>
              <a:t>Cada braço: 300 decisões · superfícies e casos distintos</a:t>
            </a:r>
          </a:p>
        </p:txBody>
      </p:sp>
    </p:spTree>
    <p:extLst>
      <p:ext uri="{BB962C8B-B14F-4D97-AF65-F5344CB8AC3E}">
        <p14:creationId xmlns:p14="http://schemas.microsoft.com/office/powerpoint/2010/main" val="142256808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9527EA-E3DC-4561-89AC-74D3C8632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8C9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68C91"/>
                </a:solidFill>
                <a:latin typeface="Arial"/>
                <a:ea typeface="Arial"/>
                <a:cs typeface="Arial"/>
              </a:rPr>
              <a:t>CAMPANHA PRINCIPAL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94C96E-CC31-4026-831C-80994B5D3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2C4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12C40"/>
                </a:solidFill>
                <a:latin typeface="Arial"/>
                <a:ea typeface="Arial"/>
                <a:cs typeface="Arial"/>
              </a:rPr>
              <a:t>Repetição e custo observado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379D07-C585-4964-BCE0-6240463F7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23850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50667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06677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ACD39F-8F85-4C0F-BF27-71030A3EF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066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677"/>
                </a:solidFill>
                <a:latin typeface="Arial"/>
                <a:ea typeface="Arial"/>
                <a:cs typeface="Arial"/>
              </a:rPr>
              <a:t>MCP Sentry · FEICIT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10CD7E-B6A1-45C3-B09C-9730D69DC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0"/>
            <a:ext cx="1085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0667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06677"/>
                </a:solidFill>
                <a:latin typeface="Arial"/>
                <a:ea typeface="Arial"/>
                <a:cs typeface="Arial"/>
              </a:rPr>
              <a:t>Fontes: RESULTADOS_POR_CASO.csv; RESULTADOS_E_LIMITACOES.md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D0C665-5ABE-42AC-9627-D25AE3DF6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8572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975" b="1">
                <a:solidFill>
                  <a:srgbClr val="168C91"/>
                </a:solidFill>
                <a:latin typeface="Arial"/>
                <a:ea typeface="Arial"/>
                <a:cs typeface="Arial"/>
              </a:defRPr>
            </a:pPr>
            <a:r>
              <a:rPr sz="3975" b="1">
                <a:solidFill>
                  <a:srgbClr val="168C91"/>
                </a:solidFill>
                <a:latin typeface="Arial"/>
                <a:ea typeface="Arial"/>
                <a:cs typeface="Arial"/>
              </a:rPr>
              <a:t>738 de 750 pares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131F71-13E9-4EA8-8354-0142753C1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9850"/>
            <a:ext cx="952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2C4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12C40"/>
                </a:solidFill>
                <a:latin typeface="Arial"/>
                <a:ea typeface="Arial"/>
                <a:cs typeface="Arial"/>
              </a:rPr>
              <a:t>mesma ação operacional em R1 e R2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9CC970-4AF2-4780-8474-EFA646C60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90925"/>
            <a:ext cx="5715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2C40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12C40"/>
                </a:solidFill>
                <a:latin typeface="Arial"/>
                <a:ea typeface="Arial"/>
                <a:cs typeface="Arial"/>
              </a:rPr>
              <a:t>14 diagnósticos R3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F746E5-0A57-47E2-A891-E52AD8D4F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76775"/>
            <a:ext cx="8096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D66C31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D66C31"/>
                </a:solidFill>
                <a:latin typeface="Arial"/>
                <a:ea typeface="Arial"/>
                <a:cs typeface="Arial"/>
              </a:rPr>
              <a:t>US$ 0,175854933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E711E6-EDD1-4BC6-A1B1-447F26356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0667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06677"/>
                </a:solidFill>
                <a:latin typeface="Arial"/>
                <a:ea typeface="Arial"/>
                <a:cs typeface="Arial"/>
              </a:rPr>
              <a:t>custo externo registrado</a:t>
            </a:r>
          </a:p>
        </p:txBody>
      </p:sp>
    </p:spTree>
    <p:extLst>
      <p:ext uri="{BB962C8B-B14F-4D97-AF65-F5344CB8AC3E}">
        <p14:creationId xmlns:p14="http://schemas.microsoft.com/office/powerpoint/2010/main" val="52835681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DF284F-FE38-483F-930E-EDE603B2F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8C9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68C91"/>
                </a:solidFill>
                <a:latin typeface="Arial"/>
                <a:ea typeface="Arial"/>
                <a:cs typeface="Arial"/>
              </a:rPr>
              <a:t>EXTENSÃO MULTIMODELO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AFD790-C661-4362-BE95-A2AB66D88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2C4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12C40"/>
                </a:solidFill>
                <a:latin typeface="Arial"/>
                <a:ea typeface="Arial"/>
                <a:cs typeface="Arial"/>
              </a:rPr>
              <a:t>Distribuição das 900 decisões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D9A17F-BEB5-4C33-A224-197D384CD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23850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50667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06677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5F364E-5181-41B1-80F8-7F59FE0EE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066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677"/>
                </a:solidFill>
                <a:latin typeface="Arial"/>
                <a:ea typeface="Arial"/>
                <a:cs typeface="Arial"/>
              </a:rPr>
              <a:t>MCP Sentry · FEICIT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BC86D7-D783-43D6-B605-293D1DD12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0"/>
            <a:ext cx="1085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0667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06677"/>
                </a:solidFill>
                <a:latin typeface="Arial"/>
                <a:ea typeface="Arial"/>
                <a:cs typeface="Arial"/>
              </a:rPr>
              <a:t>Fonte: DISTRIBUICAO_DAS_DECISOES.csv · denominador inclui falhas terminais</a:t>
            </a:r>
          </a:p>
        </p:txBody>
      </p:sp>
      <p:graphicFrame>
        <p:nvGraphicFramePr>
          <p:cNvPr id="13" name="Chart"/>
          <p:cNvGraphicFramePr/>
          <p:nvPr/>
        </p:nvGraphicFramePr>
        <p:xfrm>
          <a:off xmlns:a="http://schemas.openxmlformats.org/drawingml/2006/main" x="847725" y="1714500"/>
          <a:ext xmlns:a="http://schemas.openxmlformats.org/drawingml/2006/main" cx="10477500" cy="3524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331dcf70ffc42be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98CEDD-01D2-4596-A6BC-FC0D13E4E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86375"/>
            <a:ext cx="108204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2C4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2C40"/>
                </a:solidFill>
                <a:latin typeface="Arial"/>
                <a:ea typeface="Arial"/>
                <a:cs typeface="Arial"/>
              </a:rPr>
              <a:t>310 bloqueios  ·  565 permissões  ·  2 inconclusivas  ·  23 falhas</a:t>
            </a:r>
          </a:p>
        </p:txBody>
      </p:sp>
    </p:spTree>
    <p:extLst>
      <p:ext uri="{BB962C8B-B14F-4D97-AF65-F5344CB8AC3E}">
        <p14:creationId xmlns:p14="http://schemas.microsoft.com/office/powerpoint/2010/main" val="95465699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E64F5E-0FE6-4D1E-859A-C6204D9E0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8C9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68C91"/>
                </a:solidFill>
                <a:latin typeface="Arial"/>
                <a:ea typeface="Arial"/>
                <a:cs typeface="Arial"/>
              </a:rPr>
              <a:t>EXTENSÃO MULTIMODELO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9A8F94-E139-4D29-AF22-BD42CE077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2C4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12C40"/>
                </a:solidFill>
                <a:latin typeface="Arial"/>
                <a:ea typeface="Arial"/>
                <a:cs typeface="Arial"/>
              </a:rPr>
              <a:t>Resultados por condição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95F2BE-D75C-479B-88AA-BA545520C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23850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50667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06677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2EB52A-C7A3-42C8-B465-5B7E0AAD8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066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677"/>
                </a:solidFill>
                <a:latin typeface="Arial"/>
                <a:ea typeface="Arial"/>
                <a:cs typeface="Arial"/>
              </a:rPr>
              <a:t>MCP Sentry · FEICIT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4D6180-F660-4881-88F9-4EAAA82A9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0"/>
            <a:ext cx="1085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0667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06677"/>
                </a:solidFill>
                <a:latin typeface="Arial"/>
                <a:ea typeface="Arial"/>
                <a:cs typeface="Arial"/>
              </a:rPr>
              <a:t>Fonte: RESUMO_POR_MODELO_E_CONDICAO.csv · denominadores preservados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685800" y="1876425"/>
          <a:ext xmlns:a="http://schemas.openxmlformats.org/drawingml/2006/main" cx="10820400" cy="288607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803400"/>
                <a:gridCol w="1803400"/>
                <a:gridCol w="1803400"/>
                <a:gridCol w="1803400"/>
                <a:gridCol w="1803400"/>
                <a:gridCol w="1803400"/>
              </a:tblGrid>
              <a:tr h="721519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Condição</a:t>
                      </a:r>
                    </a:p>
                  </a:txBody>
                  <a:tcPr marL="91440" marR="91440" marT="45720" marB="45720">
                    <a:solidFill>
                      <a:srgbClr val="112C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Decisões</a:t>
                      </a:r>
                    </a:p>
                  </a:txBody>
                  <a:tcPr marL="91440" marR="91440" marT="45720" marB="45720">
                    <a:solidFill>
                      <a:srgbClr val="112C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Bloqueios</a:t>
                      </a:r>
                    </a:p>
                  </a:txBody>
                  <a:tcPr marL="91440" marR="91440" marT="45720" marB="45720">
                    <a:solidFill>
                      <a:srgbClr val="112C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Taxa</a:t>
                      </a:r>
                    </a:p>
                  </a:txBody>
                  <a:tcPr marL="91440" marR="91440" marT="45720" marB="45720">
                    <a:solidFill>
                      <a:srgbClr val="112C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Falhas</a:t>
                      </a:r>
                    </a:p>
                  </a:txBody>
                  <a:tcPr marL="91440" marR="91440" marT="45720" marB="45720">
                    <a:solidFill>
                      <a:srgbClr val="112C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Concordância R1/R2</a:t>
                      </a:r>
                    </a:p>
                  </a:txBody>
                  <a:tcPr marL="91440" marR="91440" marT="45720" marB="45720">
                    <a:solidFill>
                      <a:srgbClr val="112C40"/>
                    </a:solidFill>
                  </a:tcPr>
                </a:tc>
              </a:tr>
              <a:tr h="721519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C1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360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99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27,5%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19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167/180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21519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C2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360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139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38,6%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174/180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21519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180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72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40,0%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90/90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3A9CDC-7D21-4425-BE26-8CB874EEB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67300"/>
            <a:ext cx="108204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50667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506677"/>
                </a:solidFill>
                <a:latin typeface="Arial"/>
                <a:ea typeface="Arial"/>
                <a:cs typeface="Arial"/>
              </a:rPr>
              <a:t>C1 e C2 têm 360 unidades cada; D tem 180</a:t>
            </a:r>
          </a:p>
        </p:txBody>
      </p:sp>
    </p:spTree>
    <p:extLst>
      <p:ext uri="{BB962C8B-B14F-4D97-AF65-F5344CB8AC3E}">
        <p14:creationId xmlns:p14="http://schemas.microsoft.com/office/powerpoint/2010/main" val="39465763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86AFA4-DD55-4F10-AFA5-43C7BC0DA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8C9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68C91"/>
                </a:solidFill>
                <a:latin typeface="Arial"/>
                <a:ea typeface="Arial"/>
                <a:cs typeface="Arial"/>
              </a:rPr>
              <a:t>EXTENSÃO MULTIMODELO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0C5191-4CF9-46CC-8196-81543CA8D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2C4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12C40"/>
                </a:solidFill>
                <a:latin typeface="Arial"/>
                <a:ea typeface="Arial"/>
                <a:cs typeface="Arial"/>
              </a:rPr>
              <a:t>Validade, repetição e custo por posição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3F1860-4587-46A5-9DD0-422794EB2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23850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50667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06677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C8AE64-BF93-4C94-AFFA-85CDF8865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066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677"/>
                </a:solidFill>
                <a:latin typeface="Arial"/>
                <a:ea typeface="Arial"/>
                <a:cs typeface="Arial"/>
              </a:rPr>
              <a:t>MCP Sentry · FEICIT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27AB11-A616-4EE8-851A-DE57677E5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0"/>
            <a:ext cx="1085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0667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06677"/>
                </a:solidFill>
                <a:latin typeface="Arial"/>
                <a:ea typeface="Arial"/>
                <a:cs typeface="Arial"/>
              </a:rPr>
              <a:t>Fontes: RESUMO_POR_MODELO_E_CONDICAO.csv; CUSTOS_E_TEMPOS_DE_RESPOSTA.csv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685800" y="1781175"/>
          <a:ext xmlns:a="http://schemas.openxmlformats.org/drawingml/2006/main" cx="10820400" cy="31432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164080"/>
                <a:gridCol w="2164080"/>
                <a:gridCol w="2164080"/>
                <a:gridCol w="2164080"/>
                <a:gridCol w="2164080"/>
              </a:tblGrid>
              <a:tr h="785813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Posição</a:t>
                      </a:r>
                    </a:p>
                  </a:txBody>
                  <a:tcPr marL="91440" marR="91440" marT="45720" marB="45720">
                    <a:solidFill>
                      <a:srgbClr val="112C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Bloqueios</a:t>
                      </a:r>
                    </a:p>
                  </a:txBody>
                  <a:tcPr marL="91440" marR="91440" marT="45720" marB="45720">
                    <a:solidFill>
                      <a:srgbClr val="112C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Falhas</a:t>
                      </a:r>
                    </a:p>
                  </a:txBody>
                  <a:tcPr marL="91440" marR="91440" marT="45720" marB="45720">
                    <a:solidFill>
                      <a:srgbClr val="112C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Acordos R1/R2</a:t>
                      </a:r>
                    </a:p>
                  </a:txBody>
                  <a:tcPr marL="91440" marR="91440" marT="45720" marB="45720">
                    <a:solidFill>
                      <a:srgbClr val="112C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Custo obs. (US$)</a:t>
                      </a:r>
                    </a:p>
                  </a:txBody>
                  <a:tcPr marL="91440" marR="91440" marT="45720" marB="45720">
                    <a:solidFill>
                      <a:srgbClr val="112C40"/>
                    </a:solidFill>
                  </a:tcPr>
                </a:tc>
              </a:tr>
              <a:tr h="78581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Luna high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100/300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144/150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0,121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8581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Sol medium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112/300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148/150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0,855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8581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Claude Opus medium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98/300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20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139/150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4,164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947401-2AD5-4C23-A5E9-8519B14E5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2C4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2C40"/>
                </a:solidFill>
                <a:latin typeface="Arial"/>
                <a:ea typeface="Arial"/>
                <a:cs typeface="Arial"/>
              </a:rPr>
              <a:t>Total: 877 respostas válidas  ·  431/450 acordos  ·  US$ 5,14043240 observado</a:t>
            </a:r>
          </a:p>
        </p:txBody>
      </p:sp>
    </p:spTree>
    <p:extLst>
      <p:ext uri="{BB962C8B-B14F-4D97-AF65-F5344CB8AC3E}">
        <p14:creationId xmlns:p14="http://schemas.microsoft.com/office/powerpoint/2010/main" val="177077057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480AB4-1267-4F0A-9AB7-5D7090FB0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8C9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68C91"/>
                </a:solidFill>
                <a:latin typeface="Arial"/>
                <a:ea typeface="Arial"/>
                <a:cs typeface="Arial"/>
              </a:rPr>
              <a:t>SÍNTESE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0D87F4-909C-418F-B23C-FA851BA0C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2C4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12C40"/>
                </a:solidFill>
                <a:latin typeface="Arial"/>
                <a:ea typeface="Arial"/>
                <a:cs typeface="Arial"/>
              </a:rPr>
              <a:t>Conclusões sustentadas pelos resultados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02CB96-00B0-493D-BB0F-8948F9A4B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23850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50667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06677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9B3A16-683C-4DFF-B916-B52DD10B7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066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677"/>
                </a:solidFill>
                <a:latin typeface="Arial"/>
                <a:ea typeface="Arial"/>
                <a:cs typeface="Arial"/>
              </a:rPr>
              <a:t>MCP Sentry · FEICIT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A8AFA4-B02E-48B0-B0F5-6D3B93C70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0"/>
            <a:ext cx="1085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0667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06677"/>
                </a:solidFill>
                <a:latin typeface="Arial"/>
                <a:ea typeface="Arial"/>
                <a:cs typeface="Arial"/>
              </a:rPr>
              <a:t>Fontes: análises oficiais e documentacao/RESULTADOS_E_LIMITACOES.md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118C1B-F069-42D2-A351-296E9CB32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81175"/>
            <a:ext cx="108204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2C4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12C40"/>
                </a:solidFill>
                <a:latin typeface="Arial"/>
                <a:ea typeface="Arial"/>
                <a:cs typeface="Arial"/>
              </a:rPr>
              <a:t>No núcleo interno, C2 e D tiveram menos falsos negativos que C1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D45F47-90C0-4D2D-98E8-490BF27E6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62225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0667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06677"/>
                </a:solidFill>
                <a:latin typeface="Arial"/>
                <a:ea typeface="Arial"/>
                <a:cs typeface="Arial"/>
              </a:rPr>
              <a:t>D teve 28 FN; C2, 33; C1, 68 — com FP de 21, 18 e 20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F8A106-4909-4177-A6CA-D3927765D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108204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2C4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12C40"/>
                </a:solidFill>
                <a:latin typeface="Arial"/>
                <a:ea typeface="Arial"/>
                <a:cs typeface="Arial"/>
              </a:rPr>
              <a:t>O comportamento mudou entre posições e condições de modelo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662DDF-8869-4CD6-B2AB-56D5D1C92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52925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0667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06677"/>
                </a:solidFill>
                <a:latin typeface="Arial"/>
                <a:ea typeface="Arial"/>
                <a:cs typeface="Arial"/>
              </a:rPr>
              <a:t>A extensão registrou 23 falhas e diferenças de bloqueio por condição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725FC8-8D8C-43F2-8B55-B26038D71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9115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D66C3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D66C31"/>
                </a:solidFill>
                <a:latin typeface="Arial"/>
                <a:ea typeface="Arial"/>
                <a:cs typeface="Arial"/>
              </a:rPr>
              <a:t>Limites: coortes distintas; braços externos distintos; sem ranking universal</a:t>
            </a:r>
          </a:p>
        </p:txBody>
      </p:sp>
    </p:spTree>
    <p:extLst>
      <p:ext uri="{BB962C8B-B14F-4D97-AF65-F5344CB8AC3E}">
        <p14:creationId xmlns:p14="http://schemas.microsoft.com/office/powerpoint/2010/main" val="10876312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2026-09-15T13:54:58.3730000Z</dcterms:created>
  <dcterms:modified xsi:type="dcterms:W3CDTF">2026-09-15T13:54:58.3730000Z</dcterms:modified>
</coreProperties>
</file>